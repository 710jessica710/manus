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0" y="1368586"/>
            <a:ext cx="62865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Q1 2026 · Meta Paid Social Performance Review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714500" y="2680134"/>
            <a:ext cx="5715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From Awareness to Action. How Q1 built the funnel — and what the data demands next.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8750" y="3637397"/>
            <a:ext cx="6286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2" kern="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RITZ-CARLTON YACHT COLLECTION · JUMP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75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97288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Q1 2026 vs. Q1 2025: The Headline Numbers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47245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Blended Performance Across All Stages of the Funnel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1668763"/>
            <a:ext cx="18502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SPEND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1967015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$6.06M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1500" y="2245621"/>
            <a:ext cx="18502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$7.75M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71500" y="2809977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+28%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21756" y="1668763"/>
            <a:ext cx="18502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RAB EVENTS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21756" y="1967015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55,178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621756" y="2245621"/>
            <a:ext cx="18502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60,544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2621756" y="2809977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+10%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72013" y="1668763"/>
            <a:ext cx="18502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RAQ EVENTS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72013" y="1967015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7,759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72013" y="2245621"/>
            <a:ext cx="18502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33,792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4672013" y="2809977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+336%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22269" y="1668763"/>
            <a:ext cx="18502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COST PER RAQ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22269" y="1967015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$781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22269" y="2245621"/>
            <a:ext cx="18502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$229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6722269" y="2809977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−71%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71500" y="3302896"/>
            <a:ext cx="7858125" cy="897210"/>
          </a:xfrm>
          <a:prstGeom prst="rect">
            <a:avLst/>
          </a:prstGeom>
          <a:solidFill>
            <a:srgbClr val="1F3A93">
              <a:alpha val="3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3302896"/>
            <a:ext cx="28575" cy="89721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3302896"/>
            <a:ext cx="7858125" cy="897210"/>
          </a:xfrm>
          <a:prstGeom prst="rect">
            <a:avLst/>
          </a:prstGeom>
          <a:noFill/>
          <a:ln/>
        </p:spPr>
        <p:txBody>
          <a:bodyPr wrap="square" lIns="204089" tIns="153035" rIns="204089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"That's not incremental improvement — that's a structural shift in how Meta is working for RCYC."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71500" y="4752380"/>
            <a:ext cx="547747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*Metrics reflect official cross-platform dashboard reporting for Meta Paid Social (Overall Account Blended across all stages of the funnel).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61570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The Full-Funnel Picture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11526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Every layer of the funnel delivered — from mass awareness to high-intent lead capture.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0" y="1404445"/>
            <a:ext cx="8001000" cy="27396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04445"/>
            <a:ext cx="8001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4129785"/>
            <a:ext cx="8001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404445"/>
            <a:ext cx="1333481" cy="271463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OBJECTIVE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904981" y="1404445"/>
            <a:ext cx="1333509" cy="271463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CAMPAIGN TYPE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238491" y="1404445"/>
            <a:ext cx="1000125" cy="27146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SPEND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238616" y="1404445"/>
            <a:ext cx="1000125" cy="27146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REACH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38741" y="1404445"/>
            <a:ext cx="1000125" cy="27146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CLICKS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38866" y="1404445"/>
            <a:ext cx="2333634" cy="271463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OUTCOME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71500" y="1675907"/>
            <a:ext cx="1333481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Awareness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04981" y="1675907"/>
            <a:ext cx="1333509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Reach / Impressions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38491" y="1675907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$1.39M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238616" y="1675907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267.3M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238741" y="1675907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797K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38866" y="1675907"/>
            <a:ext cx="2333634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267M Accounts Center accounts reached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71500" y="2165254"/>
            <a:ext cx="1333481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Traffic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904981" y="2165254"/>
            <a:ext cx="1333509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2-Min Engaged Sessions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238491" y="2165254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$1.92M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238616" y="2165254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32.7M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238741" y="2165254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4.98M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238866" y="2165254"/>
            <a:ext cx="2333634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2.12M 2-min sessions · $0.90 per session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71500" y="2654601"/>
            <a:ext cx="1333481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Consideration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904981" y="2654601"/>
            <a:ext cx="1333509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RAB — Request Brochure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238491" y="2654601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$1.69M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238616" y="2654601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19.3M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238741" y="2654601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909K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238866" y="2654601"/>
            <a:ext cx="2333634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38,851 RAB events · $43.62 per RAB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71500" y="3143948"/>
            <a:ext cx="1333481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Demand Gen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904981" y="3143948"/>
            <a:ext cx="1333509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RAQ — Request Quote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238491" y="3143948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$2.03M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238616" y="3143948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18.3M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238741" y="3143948"/>
            <a:ext cx="1000125" cy="489347"/>
          </a:xfrm>
          <a:prstGeom prst="rect">
            <a:avLst/>
          </a:prstGeom>
          <a:noFill/>
          <a:ln/>
        </p:spPr>
        <p:txBody>
          <a:bodyPr wrap="non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666K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238866" y="3143948"/>
            <a:ext cx="2333634" cy="489347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21,481 RAQ events · $94.37 per RAQ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71500" y="4258373"/>
            <a:ext cx="8001000" cy="41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71500" y="4258373"/>
            <a:ext cx="28575" cy="4114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2" name="Text 39"/>
          <p:cNvSpPr/>
          <p:nvPr/>
        </p:nvSpPr>
        <p:spPr>
          <a:xfrm>
            <a:off x="571500" y="4258373"/>
            <a:ext cx="8001000" cy="411463"/>
          </a:xfrm>
          <a:prstGeom prst="rect">
            <a:avLst/>
          </a:prstGeom>
          <a:noFill/>
          <a:ln/>
        </p:spPr>
        <p:txBody>
          <a:bodyPr wrap="square" lIns="255143" tIns="102108" rIns="255143" bIns="1021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★ RAQ cost efficiency improved 64% YoY.</a:t>
            </a:r>
            <a:r>
              <a:rPr lang="en-US" sz="12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The system is learning — and converting.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729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94414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Reach: Awareness at Scale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11526"/>
            <a:ext cx="80010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Reach Grew 4.5× YoY — RCYC Is Now Visible to a Truly Global HNWI Audience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1594452"/>
            <a:ext cx="1760209" cy="342900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METRIC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331709" y="1594452"/>
            <a:ext cx="880104" cy="342900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Q1 2025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211813" y="1594452"/>
            <a:ext cx="880104" cy="342900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Q1 2026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091918" y="1594452"/>
            <a:ext cx="880104" cy="342900"/>
          </a:xfrm>
          <a:prstGeom prst="rect">
            <a:avLst/>
          </a:prstGeom>
          <a:noFill/>
          <a:ln/>
        </p:spPr>
        <p:txBody>
          <a:bodyPr wrap="none" lIns="85090" tIns="127508" rIns="8509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CHANGE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71500" y="1937352"/>
            <a:ext cx="1760209" cy="603647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Amount spent (Awareness)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31709" y="1937352"/>
            <a:ext cx="880104" cy="603647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$253.9K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11813" y="1937352"/>
            <a:ext cx="880104" cy="603647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$1.39M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91918" y="1937352"/>
            <a:ext cx="880104" cy="603647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+447%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1500" y="2540998"/>
            <a:ext cx="1760209" cy="448270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Impressions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331709" y="2540998"/>
            <a:ext cx="880104" cy="44827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176.1M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211813" y="2540998"/>
            <a:ext cx="880104" cy="44827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1.35B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091918" y="2540998"/>
            <a:ext cx="880104" cy="44827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+665%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1500" y="2989269"/>
            <a:ext cx="1760209" cy="448270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Reach (Awareness)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331709" y="2989269"/>
            <a:ext cx="880104" cy="44827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15.8M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211813" y="2989269"/>
            <a:ext cx="880104" cy="44827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267.3M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091918" y="2989269"/>
            <a:ext cx="880104" cy="44827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+596%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1500" y="3437539"/>
            <a:ext cx="1760209" cy="466130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Reach (All Campaigns)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331709" y="3437539"/>
            <a:ext cx="880104" cy="46613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74.8M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11813" y="3437539"/>
            <a:ext cx="880104" cy="46613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337.7M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091918" y="3437539"/>
            <a:ext cx="880104" cy="466130"/>
          </a:xfrm>
          <a:prstGeom prst="rect">
            <a:avLst/>
          </a:prstGeom>
          <a:noFill/>
          <a:ln/>
        </p:spPr>
        <p:txBody>
          <a:bodyPr wrap="none" lIns="85090" tIns="170053" rIns="8509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+351.6%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71500" y="4025112"/>
            <a:ext cx="440055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*Reach figures represent the number of Accounts Center accounts that saw at least one ad.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5400675" y="1580164"/>
            <a:ext cx="3600450" cy="1998687"/>
          </a:xfrm>
          <a:prstGeom prst="rect">
            <a:avLst/>
          </a:prstGeom>
          <a:solidFill>
            <a:srgbClr val="1F3A93">
              <a:alpha val="1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400675" y="1580164"/>
            <a:ext cx="28575" cy="1998687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7"/>
          <p:cNvSpPr/>
          <p:nvPr/>
        </p:nvSpPr>
        <p:spPr>
          <a:xfrm>
            <a:off x="5614988" y="1794477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614988" y="2130233"/>
            <a:ext cx="3171825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global reach campaign (launched Oct 2025,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active through Q1 2026) drove the majority of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Accounts Center accounts reached — </a:t>
            </a:r>
            <a:r>
              <a:rPr lang="en-US" sz="9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169M from the Oct 2025 campaign alone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and 98M from the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July 2025 campaign. This is the top-of-funnel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engine feeding downstream lead quality.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400675" y="4014620"/>
            <a:ext cx="3600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1.83 Billion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5400675" y="4386095"/>
            <a:ext cx="36004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F1E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IMPRESSIONS DELIVERED IN Q1 2026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400675" y="4595050"/>
            <a:ext cx="36004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Up from 365.9M in Q1 2025, representing a </a:t>
            </a: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+399% increase</a:t>
            </a: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in </a:t>
            </a: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total ad delivery.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61570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Time on Site: A New Signal, A New Standard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11526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2.66 Million 2-Minute Engaged Sessions — Upgrading from LPVs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1404445"/>
            <a:ext cx="315513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1500" y="1858407"/>
            <a:ext cx="30485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At $2.91 per engaged session, this is the most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087007"/>
            <a:ext cx="30986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cost-efficient way to identify and qualify HNWI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2315607"/>
            <a:ext cx="289679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audiences before serving them RAQ or RAB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2544207"/>
            <a:ext cx="273248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creative. It feeds the retargeting pool that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72807"/>
            <a:ext cx="210919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drives downstream lead quality.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" y="3260368"/>
            <a:ext cx="3155138" cy="1514475"/>
          </a:xfrm>
          <a:prstGeom prst="rect">
            <a:avLst/>
          </a:prstGeom>
          <a:solidFill>
            <a:srgbClr val="1F3A93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260368"/>
            <a:ext cx="28575" cy="151447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3260368"/>
            <a:ext cx="3155138" cy="151447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1E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Upgrade:</a:t>
            </a:r>
            <a:r>
              <a:rPr lang="en-US" sz="9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In Q1 2025, we drove </a:t>
            </a:r>
            <a:r>
              <a:rPr lang="en-US" sz="9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1.45M Landing Page Views at $4.11 per action. </a:t>
            </a:r>
            <a:r>
              <a:rPr lang="en-US" sz="9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 Q1 2026, we upgraded the architecture to </a:t>
            </a:r>
            <a:r>
              <a:rPr lang="en-US" sz="9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optimize for Accounts Center accounts that </a:t>
            </a:r>
            <a:r>
              <a:rPr lang="en-US" sz="9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spend 2+ minutes on the RCYC site — a much </a:t>
            </a:r>
            <a:r>
              <a:rPr lang="en-US" sz="9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stronger proxy for genuine voyage intent.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62419" y="1490170"/>
            <a:ext cx="210146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METRIC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363881" y="1490170"/>
            <a:ext cx="10507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Q1 2025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414599" y="1490170"/>
            <a:ext cx="105074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Q1 2026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155263" y="1690195"/>
            <a:ext cx="2208619" cy="523280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Traffic Volume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363881" y="1690195"/>
            <a:ext cx="1104295" cy="523280"/>
          </a:xfrm>
          <a:prstGeom prst="rect">
            <a:avLst/>
          </a:prstGeom>
          <a:noFill/>
          <a:ln/>
        </p:spPr>
        <p:txBody>
          <a:bodyPr wrap="non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1.45M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68177" y="1690195"/>
            <a:ext cx="1104323" cy="523280"/>
          </a:xfrm>
          <a:prstGeom prst="rect">
            <a:avLst/>
          </a:prstGeom>
          <a:noFill/>
          <a:ln/>
        </p:spPr>
        <p:txBody>
          <a:bodyPr wrap="non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4.55M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155263" y="2220618"/>
            <a:ext cx="2208619" cy="523280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Cost per Traffic Action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363881" y="2220618"/>
            <a:ext cx="1104295" cy="523280"/>
          </a:xfrm>
          <a:prstGeom prst="rect">
            <a:avLst/>
          </a:prstGeom>
          <a:noFill/>
          <a:ln/>
        </p:spPr>
        <p:txBody>
          <a:bodyPr wrap="non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$4.11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468177" y="2220618"/>
            <a:ext cx="1104323" cy="523280"/>
          </a:xfrm>
          <a:prstGeom prst="rect">
            <a:avLst/>
          </a:prstGeom>
          <a:noFill/>
          <a:ln/>
        </p:spPr>
        <p:txBody>
          <a:bodyPr wrap="non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$1.54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155263" y="2751041"/>
            <a:ext cx="4417237" cy="530423"/>
          </a:xfrm>
          <a:prstGeom prst="rect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155263" y="3274321"/>
            <a:ext cx="4417237" cy="7144"/>
          </a:xfrm>
          <a:prstGeom prst="rect">
            <a:avLst/>
          </a:prstGeom>
          <a:solidFill>
            <a:srgbClr val="F2E7C3"/>
          </a:solidFill>
          <a:ln/>
        </p:spPr>
      </p:sp>
      <p:sp>
        <p:nvSpPr>
          <p:cNvPr id="27" name="Text 24"/>
          <p:cNvSpPr/>
          <p:nvPr/>
        </p:nvSpPr>
        <p:spPr>
          <a:xfrm>
            <a:off x="4155263" y="2751041"/>
            <a:ext cx="2208619" cy="523280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High-Intent Signal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363881" y="2751041"/>
            <a:ext cx="1104295" cy="523280"/>
          </a:xfrm>
          <a:prstGeom prst="rect">
            <a:avLst/>
          </a:prstGeom>
          <a:noFill/>
          <a:ln/>
        </p:spPr>
        <p:txBody>
          <a:bodyPr wrap="non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(LPV only)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575333" y="2879629"/>
            <a:ext cx="584002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2.66M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159335" y="2907311"/>
            <a:ext cx="306009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4AF37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(2-Min TOS)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4155263" y="3274321"/>
            <a:ext cx="4417237" cy="523280"/>
          </a:xfrm>
          <a:prstGeom prst="rect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155263" y="3274321"/>
            <a:ext cx="2208619" cy="523280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Cost per High-Intent Signal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363881" y="3274321"/>
            <a:ext cx="1104295" cy="523280"/>
          </a:xfrm>
          <a:prstGeom prst="rect">
            <a:avLst/>
          </a:prstGeom>
          <a:noFill/>
          <a:ln/>
        </p:spPr>
        <p:txBody>
          <a:bodyPr wrap="non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N/A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68177" y="3274321"/>
            <a:ext cx="1104323" cy="523280"/>
          </a:xfrm>
          <a:prstGeom prst="rect">
            <a:avLst/>
          </a:prstGeom>
          <a:noFill/>
          <a:ln/>
        </p:spPr>
        <p:txBody>
          <a:bodyPr wrap="none" lIns="127508" tIns="153035" rIns="127508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$2.91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358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457325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38,852 True RAB Events — Cost per Brochure Cut Nearly in Half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1185863"/>
            <a:ext cx="7143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Isolating RAB-optimized campaigns to reveal the True CAC of the consideration engine.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614488"/>
            <a:ext cx="1851654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METRIC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423154" y="1614488"/>
            <a:ext cx="925813" cy="24288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Q1 2025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348968" y="1614488"/>
            <a:ext cx="925841" cy="24288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Q1 2026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274809" y="1614488"/>
            <a:ext cx="925841" cy="24288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CHANGE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71500" y="1857375"/>
            <a:ext cx="1851654" cy="31611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Spend (RAB campaigns)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423154" y="1857375"/>
            <a:ext cx="925813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$2.59M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348968" y="1857375"/>
            <a:ext cx="925841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$1.86M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74809" y="1857375"/>
            <a:ext cx="925841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−28%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71500" y="2173486"/>
            <a:ext cx="1851654" cy="31611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CTR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423154" y="2173486"/>
            <a:ext cx="925813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0.79%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48968" y="2173486"/>
            <a:ext cx="925841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1.33%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74809" y="2173486"/>
            <a:ext cx="925841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+68%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1500" y="2489597"/>
            <a:ext cx="1851654" cy="31611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CPM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423154" y="2489597"/>
            <a:ext cx="925813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$22.01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348968" y="2489597"/>
            <a:ext cx="925841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$26.86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74809" y="2489597"/>
            <a:ext cx="925841" cy="316111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+22%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1500" y="2805708"/>
            <a:ext cx="1851654" cy="369689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Time on Site 2+ Mins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423154" y="2805708"/>
            <a:ext cx="925813" cy="369689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348968" y="2805708"/>
            <a:ext cx="925841" cy="369689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270,366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74809" y="2805708"/>
            <a:ext cx="925841" cy="369689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New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71500" y="3175397"/>
            <a:ext cx="1851654" cy="369689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True RAB Events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423154" y="3175397"/>
            <a:ext cx="925813" cy="369689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27,945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48968" y="3175397"/>
            <a:ext cx="925841" cy="369689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38,852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274809" y="3175397"/>
            <a:ext cx="925841" cy="369689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+39%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71500" y="3545086"/>
            <a:ext cx="1851654" cy="36254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True Cost per RAB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423154" y="3545086"/>
            <a:ext cx="925813" cy="362545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$93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348968" y="3545086"/>
            <a:ext cx="925841" cy="362545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$48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274809" y="3545086"/>
            <a:ext cx="925841" cy="362545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−49%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486400" y="1600200"/>
            <a:ext cx="3086100" cy="1762944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486400" y="1600200"/>
            <a:ext cx="30861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7" name="Text 34"/>
          <p:cNvSpPr/>
          <p:nvPr/>
        </p:nvSpPr>
        <p:spPr>
          <a:xfrm>
            <a:off x="5629275" y="1707356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629275" y="2007394"/>
            <a:ext cx="2800350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Despite 28% less spend on RAB campaigns,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total true RAB events grew by 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39%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and the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cost per RAB was cut nearly in half to $48.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is the result of better creative, improved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targeting, and a more efficient funnel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architecture.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486400" y="3491731"/>
            <a:ext cx="3086100" cy="1605781"/>
          </a:xfrm>
          <a:prstGeom prst="rect">
            <a:avLst/>
          </a:prstGeom>
          <a:solidFill>
            <a:srgbClr val="1F3A93">
              <a:alpha val="3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486400" y="3491731"/>
            <a:ext cx="28575" cy="160578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1" name="Text 38"/>
          <p:cNvSpPr/>
          <p:nvPr/>
        </p:nvSpPr>
        <p:spPr>
          <a:xfrm>
            <a:off x="5486400" y="3491731"/>
            <a:ext cx="3086100" cy="160578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New RAB creative</a:t>
            </a:r>
            <a:r>
              <a:rPr lang="en-US" sz="11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launched March </a:t>
            </a:r>
            <a:r>
              <a:rPr lang="en-US" sz="11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2026 ("Where to Travel 2026") is </a:t>
            </a:r>
            <a:r>
              <a:rPr lang="en-US" sz="11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showing strong early efficiency </a:t>
            </a:r>
            <a:r>
              <a:rPr lang="en-US" sz="11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signals, positioning us to drive the </a:t>
            </a:r>
            <a:r>
              <a:rPr lang="en-US" sz="11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cost per RAB down through the rest of </a:t>
            </a:r>
            <a:r>
              <a:rPr lang="en-US" sz="11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year.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"/>
            <a:ext cx="8001000" cy="7018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80480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8575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21,469 True RAQ Events — Cost per Quote Down 81%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700088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Isolating RAQ-optimized campaigns to reveal the True CAC of the demand engine.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209080"/>
            <a:ext cx="18930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SPEND (RAQ CAMPAIGNS)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71500" y="1401961"/>
            <a:ext cx="1893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trike="sngStrike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$1.79M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1575197"/>
            <a:ext cx="18930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$2.03M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1500" y="1932384"/>
            <a:ext cx="18930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+14%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607469" y="1209080"/>
            <a:ext cx="18930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CTR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607469" y="1401961"/>
            <a:ext cx="1893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trike="sngStrike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0.85%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607469" y="1575197"/>
            <a:ext cx="18930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0.90%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607469" y="1932384"/>
            <a:ext cx="18930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+6%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43438" y="1209080"/>
            <a:ext cx="18930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TRUE RAQ EVENTS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643438" y="1401961"/>
            <a:ext cx="1893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trike="sngStrike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3,517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643438" y="1575197"/>
            <a:ext cx="18930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21,469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643438" y="1932384"/>
            <a:ext cx="18930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+510%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79406" y="1209080"/>
            <a:ext cx="18930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TRUE COST PER RAQ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679406" y="1401961"/>
            <a:ext cx="1893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trike="sngStrike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$508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9406" y="1575197"/>
            <a:ext cx="18930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$94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679406" y="1932384"/>
            <a:ext cx="18930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−81%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71500" y="2302073"/>
            <a:ext cx="8001000" cy="1705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2302073"/>
            <a:ext cx="8001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3993356"/>
            <a:ext cx="8001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2302073"/>
            <a:ext cx="2666991" cy="22681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CAMPAIGN (PLATFORM DATA)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238491" y="2302073"/>
            <a:ext cx="1333481" cy="22681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TYPE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4571972" y="2302073"/>
            <a:ext cx="1333509" cy="22681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AMOUNT SPENT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905481" y="2302073"/>
            <a:ext cx="1333509" cy="22681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PLATFORM EVENTS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38991" y="2302073"/>
            <a:ext cx="1333481" cy="22681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PLATFORM CPR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71500" y="2528888"/>
            <a:ext cx="266699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 US/CA Prospecting (comp-retest)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238491" y="2528888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Prospecting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571972" y="2528888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$173.3K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905481" y="2528888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~2,430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238991" y="2528888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$71.29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71500" y="2771775"/>
            <a:ext cx="266699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Prospecting (comp-retest)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3238491" y="2771775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Prospecting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571972" y="2771775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$69.2K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905481" y="2771775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~930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238991" y="2771775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$74.38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71500" y="3014663"/>
            <a:ext cx="266699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 US/CA Retargeting (Dec 2025)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3238491" y="3014663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Retargeting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571972" y="3014663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$1.41M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905481" y="3014663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~15,430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238991" y="3014663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$91.43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571500" y="3257550"/>
            <a:ext cx="266699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Retargeting (Jan 2026)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238491" y="3257550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Retargeting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1972" y="3257550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$330.0K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905481" y="3257550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~2,354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7238991" y="3257550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$140.17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571500" y="3500438"/>
            <a:ext cx="266699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CRM Retargeting NA (Mar 2026)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238491" y="3500438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CRM List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4571972" y="3500438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$15.9K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5905481" y="3500438"/>
            <a:ext cx="1333509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~91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238991" y="3500438"/>
            <a:ext cx="1333481" cy="2428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$174.29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571500" y="3743325"/>
            <a:ext cx="2666991" cy="23574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CRM Retargeting Global (Mar 2026)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3238491" y="3743325"/>
            <a:ext cx="1333481" cy="23574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CRM List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4571972" y="3743325"/>
            <a:ext cx="1333509" cy="23574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$15.8K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5905481" y="3743325"/>
            <a:ext cx="1333509" cy="23574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~94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7238991" y="3743325"/>
            <a:ext cx="1333481" cy="235744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$167.93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571500" y="4121944"/>
            <a:ext cx="8001000" cy="50290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571500" y="4121944"/>
            <a:ext cx="28575" cy="50290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3" name="Text 60"/>
          <p:cNvSpPr/>
          <p:nvPr/>
        </p:nvSpPr>
        <p:spPr>
          <a:xfrm>
            <a:off x="571500" y="4121944"/>
            <a:ext cx="8001000" cy="502909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With only 14% more spend, RAQ events exploded +510% and cost per RAQ dropped from $508 to $94. This is the most dramatic efficiency gain in the account's history.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61570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What the Data is Saying: The Meta System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11526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Architecture Is Proven. Now We Optimize the Mix.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1704482"/>
            <a:ext cx="385762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Reach Feeds Everything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1500" y="2077743"/>
            <a:ext cx="3857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267M ACCOUNTS CENTER ACCOUNTS REACHED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2358135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Every RAQ and RAB conversion started here. Awareness investment is not a cost — it's the top of the pipeline.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14875" y="1704482"/>
            <a:ext cx="385762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Time on Site Is the Qualifier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14875" y="2077743"/>
            <a:ext cx="38576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2.66M ENGAGED 2-MINUTE SESSIONS AT $2.91 EACH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14875" y="2531371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is the mid-funnel signal that separates voyage-intent Accounts Center accounts from casual browsers. The retargeting pool it builds is what makes RAQ efficient.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1500" y="3552927"/>
            <a:ext cx="385762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RAB Scales Consideration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1500" y="3926188"/>
            <a:ext cx="3857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60,544 BROCHURE REQUESTS AT $128 EACH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" y="4206580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New "Where to Travel 2026" creative is already showing strong platform efficiency. Scaling this creative will drive the dashboard CPA down.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14875" y="3552927"/>
            <a:ext cx="385762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RAQ Is the Demand Signal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14875" y="3926188"/>
            <a:ext cx="3857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33,792 QUOTE REQUESTS AT $229 EACH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14875" y="4206580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dashboard confirms a massive 336% YoY increase in volume and a 71% drop in cost per RAQ. The system is identifying high-intent HNWI audiences and converting them.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75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97288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June–Dec 2025: The Foundation We Built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47245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Blended Performance Across All Stages of the Funnel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1668763"/>
            <a:ext cx="18502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SPEND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1967015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$12.2M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1500" y="2245621"/>
            <a:ext cx="18502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$11.1M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71500" y="2809977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43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−9%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21756" y="1668763"/>
            <a:ext cx="18502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RAB EVENTS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21756" y="1967015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178,093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621756" y="2245621"/>
            <a:ext cx="18502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114,227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2621756" y="2809977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43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−36%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72013" y="1668763"/>
            <a:ext cx="18502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RAQ EVENTS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72013" y="1967015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15,458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72013" y="2245621"/>
            <a:ext cx="18502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79,124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4672013" y="2809977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+412%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22269" y="1668763"/>
            <a:ext cx="18502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COST PER RAQ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22269" y="1967015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trike="sngStrike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$790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22269" y="2245621"/>
            <a:ext cx="18502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$140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6722269" y="2809977"/>
            <a:ext cx="18502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−82%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71500" y="3302896"/>
            <a:ext cx="7858125" cy="1097263"/>
          </a:xfrm>
          <a:prstGeom prst="rect">
            <a:avLst/>
          </a:prstGeom>
          <a:solidFill>
            <a:srgbClr val="1F3A93">
              <a:alpha val="3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3302896"/>
            <a:ext cx="28575" cy="10972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3302896"/>
            <a:ext cx="7858125" cy="1097263"/>
          </a:xfrm>
          <a:prstGeom prst="rect">
            <a:avLst/>
          </a:prstGeom>
          <a:noFill/>
          <a:ln/>
        </p:spPr>
        <p:txBody>
          <a:bodyPr wrap="square" lIns="204089" tIns="153035" rIns="204089" bIns="153035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system architecture implemented in mid-2025 drove an immediate and </a:t>
            </a:r>
            <a:r>
              <a:rPr lang="en-US" sz="15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massive shift toward high-intent Demand Gen (RAQ). We </a:t>
            </a: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slashed acquisition costs by 82%</a:t>
            </a:r>
            <a:r>
              <a:rPr lang="en-US" sz="15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while optimizing total spend down 9%.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71500" y="4752380"/>
            <a:ext cx="491847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*Metrics reflect official cross-platform dashboard reporting for Meta Paid Social (June 1 - Dec 31, 2025 vs Previous Period).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61570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2027 Plans: Scaling the Proven Architecture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11526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Pushing the Meta Engine to Maximum Capacity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0" y="1547320"/>
            <a:ext cx="3857625" cy="1841915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47320"/>
            <a:ext cx="28575" cy="184191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1761632"/>
            <a:ext cx="34290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SCALE DEMAND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85813" y="1970587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Aggressive RAQ Prospecting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5813" y="2352052"/>
            <a:ext cx="3429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RAQ system is highly efficient. In 2027, we will aggressively scale prospecting budgets to push the ceiling on RAQ volume while maintaining sub-$200 CACs.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14875" y="1547320"/>
            <a:ext cx="3857625" cy="1841915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714875" y="1547320"/>
            <a:ext cx="28575" cy="184191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4929188" y="1864491"/>
            <a:ext cx="34290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EXPAND REACH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29188" y="2073446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Dominate New HNWI Markets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29188" y="2454911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With a 4.5x increase in reach proven, we will expand awareness campaigns into untapped global HNWI markets to continuously feed the top of the funnel.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1500" y="3674985"/>
            <a:ext cx="3857625" cy="1636198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3674985"/>
            <a:ext cx="28575" cy="163619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6"/>
          <p:cNvSpPr/>
          <p:nvPr/>
        </p:nvSpPr>
        <p:spPr>
          <a:xfrm>
            <a:off x="785813" y="3889297"/>
            <a:ext cx="34290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DEEPEN RETENTION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85813" y="4098252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Advanced CRM Retargeting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5813" y="4479717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 advanced CRM list segmentation to re-engage past leads and past guests with highly personalized, voyage-specific creative and offers.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14875" y="3674985"/>
            <a:ext cx="3857625" cy="1636198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714875" y="3674985"/>
            <a:ext cx="28575" cy="163619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1"/>
          <p:cNvSpPr/>
          <p:nvPr/>
        </p:nvSpPr>
        <p:spPr>
          <a:xfrm>
            <a:off x="4929188" y="3889297"/>
            <a:ext cx="34290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ELEVATE BRAND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29188" y="4098252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Next-Gen Creative Testing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929188" y="4479717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Test new immersive video and dynamic formats to continuously lower the cost of consideration (RAB) and drive higher quality Time on Site.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4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61570"/>
            <a:ext cx="8001000" cy="71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Strategic Roadmap: May–December 2026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911526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E5A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Lean into What's Working. Scale the System.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1775920"/>
            <a:ext cx="183951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SCALE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020593"/>
            <a:ext cx="183951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RAQ Prospecting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" y="2403481"/>
            <a:ext cx="1839516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At </a:t>
            </a:r>
            <a:r>
              <a:rPr lang="en-US" sz="9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$71–74 per RAQ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prospecting campaigns are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most efficient demand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generators in the account.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Increasing budget here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compounds the retargeting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pool and drives downstream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RAQ efficiency further.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625328" y="1775920"/>
            <a:ext cx="183951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SCALE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625328" y="2020593"/>
            <a:ext cx="183951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Time on Site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25328" y="2403481"/>
            <a:ext cx="1839516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$0.90 per engaged session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is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exceptional. Expanding TOS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campaigns globally (currently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NA-focused) builds a larger,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higher-quality retargeting pool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 both RAQ and RAB.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79156" y="1775920"/>
            <a:ext cx="183951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OPTIMIZE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79156" y="2020593"/>
            <a:ext cx="183951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RAB Creative Win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79156" y="2403481"/>
            <a:ext cx="1839516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New "Where to Travel 2026"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creative is outperforming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legacy by </a:t>
            </a:r>
            <a:r>
              <a:rPr lang="en-US" sz="90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2.5×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 Update a new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lander to match the Where to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Travel asset but with the RAQ </a:t>
            </a: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form open vs. the RAB.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732984" y="1775920"/>
            <a:ext cx="183951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TEST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32984" y="2020593"/>
            <a:ext cx="183951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UGC Hybrid Asset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32984" y="2403481"/>
            <a:ext cx="1839516" cy="205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UGC remains our highest-performing format for bottom-of-funnel conversions. We should continue leveraging these assets while also experimenting with hybrid variations that blend authentic UGC with stronger brand elements to enhance consistency and impact.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7225"/>
            <a:ext cx="8001000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The Model Is Proven. Now We Scale It.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71500" y="1708779"/>
            <a:ext cx="1839516" cy="1387283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08779"/>
            <a:ext cx="1839516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3081775"/>
            <a:ext cx="1839516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923092"/>
            <a:ext cx="1553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4CAF5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+351.6%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14375" y="2373148"/>
            <a:ext cx="1553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REACH GROWTH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Q1 YOY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625328" y="1708779"/>
            <a:ext cx="1839516" cy="1387283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625328" y="1708779"/>
            <a:ext cx="1839516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Shape 8"/>
          <p:cNvSpPr/>
          <p:nvPr/>
        </p:nvSpPr>
        <p:spPr>
          <a:xfrm>
            <a:off x="2625328" y="3081775"/>
            <a:ext cx="1839516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2768203" y="1923092"/>
            <a:ext cx="1553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4CAF5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+336%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768203" y="2373148"/>
            <a:ext cx="1553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RAQ EVENTS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Q1 YOY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79156" y="1708779"/>
            <a:ext cx="1839516" cy="1387283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79156" y="1708779"/>
            <a:ext cx="1839516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Shape 13"/>
          <p:cNvSpPr/>
          <p:nvPr/>
        </p:nvSpPr>
        <p:spPr>
          <a:xfrm>
            <a:off x="4679156" y="3081775"/>
            <a:ext cx="1839516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4"/>
          <p:cNvSpPr/>
          <p:nvPr/>
        </p:nvSpPr>
        <p:spPr>
          <a:xfrm>
            <a:off x="4822031" y="1923092"/>
            <a:ext cx="1553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−71%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4822031" y="2373148"/>
            <a:ext cx="1553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COST PER RAQ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IMPROVEMENT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732984" y="1708779"/>
            <a:ext cx="1839516" cy="1387283"/>
          </a:xfrm>
          <a:prstGeom prst="rect">
            <a:avLst/>
          </a:prstGeom>
          <a:solidFill>
            <a:srgbClr val="1F3A93">
              <a:alpha val="1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732984" y="1708779"/>
            <a:ext cx="1839516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Shape 18"/>
          <p:cNvSpPr/>
          <p:nvPr/>
        </p:nvSpPr>
        <p:spPr>
          <a:xfrm>
            <a:off x="6732984" y="3081775"/>
            <a:ext cx="1839516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19"/>
          <p:cNvSpPr/>
          <p:nvPr/>
        </p:nvSpPr>
        <p:spPr>
          <a:xfrm>
            <a:off x="6875859" y="1923092"/>
            <a:ext cx="15537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2.66M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6875859" y="2373148"/>
            <a:ext cx="15537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2-MIN ENGAGED 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SESSIONS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800" spc="1" kern="0" dirty="0">
                <a:solidFill>
                  <a:srgbClr val="F1E5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 $2.91 EACH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0125" y="3496112"/>
            <a:ext cx="714375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Q1 2026 on Meta delivered more reach, more qualified traffic, and more high-intent leads than any prior quarter — at a fraction of the historical cost per RAQ. The architecture is working. The creative is improving. The retargeting pool is growing.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71500" y="4536225"/>
            <a:ext cx="800100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The question for the rest of 2026 is not whether to invest in this system.</a:t>
            </a:r>
            <a:r>
              <a:rPr lang="en-US" sz="1600" b="1" i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
</a:t>
            </a:r>
            <a:r>
              <a:rPr lang="en-US" sz="1600" b="1" i="1" dirty="0">
                <a:solidFill>
                  <a:srgbClr val="D4AF37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It's how fast to scale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2026-04-30T19:01:39Z</dcterms:created>
  <dcterms:modified xsi:type="dcterms:W3CDTF">2026-04-30T19:01:39Z</dcterms:modified>
</cp:coreProperties>
</file>